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8288000" cy="10287000"/>
  <p:notesSz cx="6858000" cy="9144000"/>
  <p:embeddedFontLst>
    <p:embeddedFont>
      <p:font typeface="Clear Sans Regular Bold" panose="020B0604020202020204" charset="0"/>
      <p:regular r:id="rId9"/>
    </p:embeddedFont>
    <p:embeddedFont>
      <p:font typeface="Calibri" panose="020F0502020204030204" pitchFamily="34" charset="0"/>
      <p:regular r:id="rId10"/>
      <p:bold r:id="rId11"/>
      <p:italic r:id="rId12"/>
      <p:boldItalic r:id="rId13"/>
    </p:embeddedFont>
    <p:embeddedFont>
      <p:font typeface="Open Sans" panose="020B0604020202020204" charset="0"/>
      <p:regular r:id="rId14"/>
    </p:embeddedFont>
    <p:embeddedFont>
      <p:font typeface="Clear Sans Regular" panose="020B0604020202020204" charset="0"/>
      <p:regular r:id="rId15"/>
    </p:embeddedFont>
    <p:embeddedFont>
      <p:font typeface="Lalezar" panose="020B0604020202020204" charset="-78"/>
      <p:regular r:id="rId16"/>
    </p:embeddedFont>
    <p:embeddedFont>
      <p:font typeface="Dreaming Outloud Sans" panose="020B0604020202020204" charset="-52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3" d="100"/>
          <a:sy n="73" d="100"/>
        </p:scale>
        <p:origin x="594" y="12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5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font" Target="fonts/font8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font" Target="fonts/font7.fntdata"/><Relationship Id="rId10" Type="http://schemas.openxmlformats.org/officeDocument/2006/relationships/font" Target="fonts/font2.fntdata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6.png"/><Relationship Id="rId17" Type="http://schemas.openxmlformats.org/officeDocument/2006/relationships/image" Target="../media/image16.svg"/><Relationship Id="rId2" Type="http://schemas.openxmlformats.org/officeDocument/2006/relationships/image" Target="../media/image1.png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5.png"/><Relationship Id="rId4" Type="http://schemas.openxmlformats.org/officeDocument/2006/relationships/image" Target="../media/image2.png"/><Relationship Id="rId9" Type="http://schemas.openxmlformats.org/officeDocument/2006/relationships/image" Target="../media/image8.svg"/><Relationship Id="rId1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6.svg"/><Relationship Id="rId3" Type="http://schemas.openxmlformats.org/officeDocument/2006/relationships/image" Target="../media/image2.svg"/><Relationship Id="rId7" Type="http://schemas.openxmlformats.org/officeDocument/2006/relationships/image" Target="../media/image8.svg"/><Relationship Id="rId12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14.svg"/><Relationship Id="rId5" Type="http://schemas.openxmlformats.org/officeDocument/2006/relationships/image" Target="../media/image4.svg"/><Relationship Id="rId10" Type="http://schemas.openxmlformats.org/officeDocument/2006/relationships/image" Target="../media/image7.png"/><Relationship Id="rId4" Type="http://schemas.openxmlformats.org/officeDocument/2006/relationships/image" Target="../media/image2.png"/><Relationship Id="rId9" Type="http://schemas.openxmlformats.org/officeDocument/2006/relationships/image" Target="../media/image12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8.svg"/><Relationship Id="rId7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8.svg"/><Relationship Id="rId4" Type="http://schemas.openxmlformats.org/officeDocument/2006/relationships/image" Target="../media/image4.png"/><Relationship Id="rId9" Type="http://schemas.openxmlformats.org/officeDocument/2006/relationships/image" Target="../media/image12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6.png"/><Relationship Id="rId17" Type="http://schemas.openxmlformats.org/officeDocument/2006/relationships/image" Target="../media/image16.svg"/><Relationship Id="rId2" Type="http://schemas.openxmlformats.org/officeDocument/2006/relationships/image" Target="../media/image1.png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5.png"/><Relationship Id="rId4" Type="http://schemas.openxmlformats.org/officeDocument/2006/relationships/image" Target="../media/image2.png"/><Relationship Id="rId9" Type="http://schemas.openxmlformats.org/officeDocument/2006/relationships/image" Target="../media/image8.svg"/><Relationship Id="rId1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402607" y="2487240"/>
            <a:ext cx="11482787" cy="45538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426"/>
              </a:lnSpc>
            </a:pPr>
            <a:r>
              <a:rPr lang="en-US" sz="17965" dirty="0">
                <a:solidFill>
                  <a:srgbClr val="C1314C"/>
                </a:solidFill>
                <a:latin typeface="Lalezar"/>
                <a:ea typeface="Lalezar"/>
                <a:cs typeface="Lalezar"/>
                <a:sym typeface="Lalezar"/>
              </a:rPr>
              <a:t>Upswing</a:t>
            </a:r>
          </a:p>
          <a:p>
            <a:pPr algn="ctr">
              <a:lnSpc>
                <a:spcPts val="17426"/>
              </a:lnSpc>
            </a:pPr>
            <a:r>
              <a:rPr lang="en-US" sz="17965" dirty="0">
                <a:solidFill>
                  <a:srgbClr val="C1314C"/>
                </a:solidFill>
                <a:latin typeface="Lalezar"/>
                <a:ea typeface="Lalezar"/>
                <a:cs typeface="Lalezar"/>
                <a:sym typeface="Lalezar"/>
              </a:rPr>
              <a:t>Jumpin’</a:t>
            </a:r>
          </a:p>
        </p:txBody>
      </p:sp>
      <p:sp>
        <p:nvSpPr>
          <p:cNvPr id="3" name="Freeform 3"/>
          <p:cNvSpPr/>
          <p:nvPr/>
        </p:nvSpPr>
        <p:spPr>
          <a:xfrm>
            <a:off x="-523061" y="6541875"/>
            <a:ext cx="4099837" cy="4114800"/>
          </a:xfrm>
          <a:custGeom>
            <a:avLst/>
            <a:gdLst/>
            <a:ahLst/>
            <a:cxnLst/>
            <a:rect l="l" t="t" r="r" b="b"/>
            <a:pathLst>
              <a:path w="4099837" h="4114800">
                <a:moveTo>
                  <a:pt x="0" y="0"/>
                </a:moveTo>
                <a:lnTo>
                  <a:pt x="4099837" y="0"/>
                </a:lnTo>
                <a:lnTo>
                  <a:pt x="409983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-1861447">
            <a:off x="14428604" y="4873673"/>
            <a:ext cx="5189182" cy="5415655"/>
          </a:xfrm>
          <a:custGeom>
            <a:avLst/>
            <a:gdLst/>
            <a:ahLst/>
            <a:cxnLst/>
            <a:rect l="l" t="t" r="r" b="b"/>
            <a:pathLst>
              <a:path w="5189182" h="5415655">
                <a:moveTo>
                  <a:pt x="0" y="0"/>
                </a:moveTo>
                <a:lnTo>
                  <a:pt x="5189181" y="0"/>
                </a:lnTo>
                <a:lnTo>
                  <a:pt x="5189181" y="5415655"/>
                </a:lnTo>
                <a:lnTo>
                  <a:pt x="0" y="541565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9144000" y="7770896"/>
            <a:ext cx="5533350" cy="4114800"/>
          </a:xfrm>
          <a:custGeom>
            <a:avLst/>
            <a:gdLst/>
            <a:ahLst/>
            <a:cxnLst/>
            <a:rect l="l" t="t" r="r" b="b"/>
            <a:pathLst>
              <a:path w="5533350" h="4114800">
                <a:moveTo>
                  <a:pt x="0" y="0"/>
                </a:moveTo>
                <a:lnTo>
                  <a:pt x="5533350" y="0"/>
                </a:lnTo>
                <a:lnTo>
                  <a:pt x="553335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5954939">
            <a:off x="5042893" y="7725734"/>
            <a:ext cx="2843035" cy="3636440"/>
          </a:xfrm>
          <a:custGeom>
            <a:avLst/>
            <a:gdLst/>
            <a:ahLst/>
            <a:cxnLst/>
            <a:rect l="l" t="t" r="r" b="b"/>
            <a:pathLst>
              <a:path w="2843035" h="3636440">
                <a:moveTo>
                  <a:pt x="0" y="0"/>
                </a:moveTo>
                <a:lnTo>
                  <a:pt x="2843034" y="0"/>
                </a:lnTo>
                <a:lnTo>
                  <a:pt x="2843034" y="3636439"/>
                </a:lnTo>
                <a:lnTo>
                  <a:pt x="0" y="3636439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=""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3873637" y="-2399085"/>
            <a:ext cx="4754496" cy="4114800"/>
          </a:xfrm>
          <a:custGeom>
            <a:avLst/>
            <a:gdLst/>
            <a:ahLst/>
            <a:cxnLst/>
            <a:rect l="l" t="t" r="r" b="b"/>
            <a:pathLst>
              <a:path w="4754496" h="4114800">
                <a:moveTo>
                  <a:pt x="0" y="0"/>
                </a:moveTo>
                <a:lnTo>
                  <a:pt x="4754496" y="0"/>
                </a:lnTo>
                <a:lnTo>
                  <a:pt x="475449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=""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0987175" y="-822989"/>
            <a:ext cx="2263087" cy="2894647"/>
          </a:xfrm>
          <a:custGeom>
            <a:avLst/>
            <a:gdLst/>
            <a:ahLst/>
            <a:cxnLst/>
            <a:rect l="l" t="t" r="r" b="b"/>
            <a:pathLst>
              <a:path w="2263087" h="2894647">
                <a:moveTo>
                  <a:pt x="0" y="0"/>
                </a:moveTo>
                <a:lnTo>
                  <a:pt x="2263087" y="0"/>
                </a:lnTo>
                <a:lnTo>
                  <a:pt x="2263087" y="2894647"/>
                </a:lnTo>
                <a:lnTo>
                  <a:pt x="0" y="289464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=""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rot="788334">
            <a:off x="-882232" y="14258"/>
            <a:ext cx="4343839" cy="4114800"/>
          </a:xfrm>
          <a:custGeom>
            <a:avLst/>
            <a:gdLst/>
            <a:ahLst/>
            <a:cxnLst/>
            <a:rect l="l" t="t" r="r" b="b"/>
            <a:pathLst>
              <a:path w="4343839" h="4114800">
                <a:moveTo>
                  <a:pt x="0" y="0"/>
                </a:moveTo>
                <a:lnTo>
                  <a:pt x="4343839" y="0"/>
                </a:lnTo>
                <a:lnTo>
                  <a:pt x="434383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=""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 rot="-1404291">
            <a:off x="15292195" y="-836436"/>
            <a:ext cx="3462000" cy="4920155"/>
          </a:xfrm>
          <a:custGeom>
            <a:avLst/>
            <a:gdLst/>
            <a:ahLst/>
            <a:cxnLst/>
            <a:rect l="l" t="t" r="r" b="b"/>
            <a:pathLst>
              <a:path w="3462000" h="4920155">
                <a:moveTo>
                  <a:pt x="0" y="0"/>
                </a:moveTo>
                <a:lnTo>
                  <a:pt x="3461999" y="0"/>
                </a:lnTo>
                <a:lnTo>
                  <a:pt x="3461999" y="4920155"/>
                </a:lnTo>
                <a:lnTo>
                  <a:pt x="0" y="4920155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=""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4729301" y="6698392"/>
            <a:ext cx="8829398" cy="10439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610"/>
              </a:lnSpc>
            </a:pPr>
            <a:r>
              <a:rPr lang="en-US" sz="6150" spc="67" dirty="0">
                <a:solidFill>
                  <a:srgbClr val="000000"/>
                </a:solidFill>
                <a:latin typeface="Dreaming Outloud Sans"/>
                <a:ea typeface="Dreaming Outloud Sans"/>
                <a:cs typeface="Dreaming Outloud Sans"/>
                <a:sym typeface="Dreaming Outloud Sans"/>
              </a:rPr>
              <a:t>Проект на Arcade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561329" y="5493670"/>
            <a:ext cx="11165341" cy="1543050"/>
            <a:chOff x="0" y="0"/>
            <a:chExt cx="2940666" cy="4064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940666" cy="406400"/>
            </a:xfrm>
            <a:custGeom>
              <a:avLst/>
              <a:gdLst/>
              <a:ahLst/>
              <a:cxnLst/>
              <a:rect l="l" t="t" r="r" b="b"/>
              <a:pathLst>
                <a:path w="2940666" h="406400">
                  <a:moveTo>
                    <a:pt x="35103" y="0"/>
                  </a:moveTo>
                  <a:lnTo>
                    <a:pt x="2905563" y="0"/>
                  </a:lnTo>
                  <a:cubicBezTo>
                    <a:pt x="2924950" y="0"/>
                    <a:pt x="2940666" y="15716"/>
                    <a:pt x="2940666" y="35103"/>
                  </a:cubicBezTo>
                  <a:lnTo>
                    <a:pt x="2940666" y="371297"/>
                  </a:lnTo>
                  <a:cubicBezTo>
                    <a:pt x="2940666" y="390684"/>
                    <a:pt x="2924950" y="406400"/>
                    <a:pt x="2905563" y="406400"/>
                  </a:cubicBezTo>
                  <a:lnTo>
                    <a:pt x="35103" y="406400"/>
                  </a:lnTo>
                  <a:cubicBezTo>
                    <a:pt x="15716" y="406400"/>
                    <a:pt x="0" y="390684"/>
                    <a:pt x="0" y="371297"/>
                  </a:cubicBezTo>
                  <a:lnTo>
                    <a:pt x="0" y="35103"/>
                  </a:lnTo>
                  <a:cubicBezTo>
                    <a:pt x="0" y="15716"/>
                    <a:pt x="15716" y="0"/>
                    <a:pt x="35103" y="0"/>
                  </a:cubicBezTo>
                  <a:close/>
                </a:path>
              </a:pathLst>
            </a:custGeom>
            <a:solidFill>
              <a:srgbClr val="C1314C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940666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dirty="0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4307734" y="5495576"/>
            <a:ext cx="9672533" cy="1386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433"/>
              </a:lnSpc>
            </a:pPr>
            <a:r>
              <a:rPr lang="en-US" sz="8167" spc="89" dirty="0">
                <a:solidFill>
                  <a:srgbClr val="FFECEF"/>
                </a:solidFill>
                <a:latin typeface="Dreaming Outloud Sans"/>
                <a:ea typeface="Dreaming Outloud Sans"/>
                <a:cs typeface="Dreaming Outloud Sans"/>
                <a:sym typeface="Dreaming Outloud Sans"/>
              </a:rPr>
              <a:t>Волкова Диана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3561329" y="3096138"/>
            <a:ext cx="11165341" cy="1543050"/>
            <a:chOff x="0" y="0"/>
            <a:chExt cx="2940666" cy="4064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940666" cy="406400"/>
            </a:xfrm>
            <a:custGeom>
              <a:avLst/>
              <a:gdLst/>
              <a:ahLst/>
              <a:cxnLst/>
              <a:rect l="l" t="t" r="r" b="b"/>
              <a:pathLst>
                <a:path w="2940666" h="406400">
                  <a:moveTo>
                    <a:pt x="35103" y="0"/>
                  </a:moveTo>
                  <a:lnTo>
                    <a:pt x="2905563" y="0"/>
                  </a:lnTo>
                  <a:cubicBezTo>
                    <a:pt x="2924950" y="0"/>
                    <a:pt x="2940666" y="15716"/>
                    <a:pt x="2940666" y="35103"/>
                  </a:cubicBezTo>
                  <a:lnTo>
                    <a:pt x="2940666" y="371297"/>
                  </a:lnTo>
                  <a:cubicBezTo>
                    <a:pt x="2940666" y="390684"/>
                    <a:pt x="2924950" y="406400"/>
                    <a:pt x="2905563" y="406400"/>
                  </a:cubicBezTo>
                  <a:lnTo>
                    <a:pt x="35103" y="406400"/>
                  </a:lnTo>
                  <a:cubicBezTo>
                    <a:pt x="15716" y="406400"/>
                    <a:pt x="0" y="390684"/>
                    <a:pt x="0" y="371297"/>
                  </a:cubicBezTo>
                  <a:lnTo>
                    <a:pt x="0" y="35103"/>
                  </a:lnTo>
                  <a:cubicBezTo>
                    <a:pt x="0" y="15716"/>
                    <a:pt x="15716" y="0"/>
                    <a:pt x="35103" y="0"/>
                  </a:cubicBezTo>
                  <a:close/>
                </a:path>
              </a:pathLst>
            </a:custGeom>
            <a:solidFill>
              <a:srgbClr val="C1314C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2940666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dirty="0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4307734" y="3126691"/>
            <a:ext cx="9672533" cy="13927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433"/>
              </a:lnSpc>
            </a:pPr>
            <a:r>
              <a:rPr lang="en-US" sz="8167" spc="89" dirty="0">
                <a:solidFill>
                  <a:srgbClr val="FFECEF"/>
                </a:solidFill>
                <a:latin typeface="Dreaming Outloud Sans"/>
                <a:ea typeface="Dreaming Outloud Sans"/>
                <a:cs typeface="Dreaming Outloud Sans"/>
                <a:sym typeface="Dreaming Outloud Sans"/>
              </a:rPr>
              <a:t>Липницкий Николай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601871" y="1404244"/>
            <a:ext cx="6545941" cy="8656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207"/>
              </a:lnSpc>
            </a:pPr>
            <a:r>
              <a:rPr lang="en-US" sz="7000" dirty="0">
                <a:solidFill>
                  <a:srgbClr val="C1314C"/>
                </a:solidFill>
                <a:latin typeface="Lalezar"/>
                <a:ea typeface="Lalezar"/>
                <a:cs typeface="Lalezar"/>
                <a:sym typeface="Lalezar"/>
              </a:rPr>
              <a:t>Команда</a:t>
            </a:r>
          </a:p>
        </p:txBody>
      </p:sp>
      <p:sp>
        <p:nvSpPr>
          <p:cNvPr id="11" name="Freeform 11"/>
          <p:cNvSpPr/>
          <p:nvPr/>
        </p:nvSpPr>
        <p:spPr>
          <a:xfrm>
            <a:off x="14457414" y="7167805"/>
            <a:ext cx="4099837" cy="4114800"/>
          </a:xfrm>
          <a:custGeom>
            <a:avLst/>
            <a:gdLst/>
            <a:ahLst/>
            <a:cxnLst/>
            <a:rect l="l" t="t" r="r" b="b"/>
            <a:pathLst>
              <a:path w="4099837" h="4114800">
                <a:moveTo>
                  <a:pt x="0" y="0"/>
                </a:moveTo>
                <a:lnTo>
                  <a:pt x="4099837" y="0"/>
                </a:lnTo>
                <a:lnTo>
                  <a:pt x="409983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 rot="-1861447">
            <a:off x="15217468" y="-717574"/>
            <a:ext cx="5189182" cy="5415655"/>
          </a:xfrm>
          <a:custGeom>
            <a:avLst/>
            <a:gdLst/>
            <a:ahLst/>
            <a:cxnLst/>
            <a:rect l="l" t="t" r="r" b="b"/>
            <a:pathLst>
              <a:path w="5189182" h="5415655">
                <a:moveTo>
                  <a:pt x="0" y="0"/>
                </a:moveTo>
                <a:lnTo>
                  <a:pt x="5189182" y="0"/>
                </a:lnTo>
                <a:lnTo>
                  <a:pt x="5189182" y="5415654"/>
                </a:lnTo>
                <a:lnTo>
                  <a:pt x="0" y="541565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 rot="5954939">
            <a:off x="8453324" y="8468780"/>
            <a:ext cx="2843035" cy="3636440"/>
          </a:xfrm>
          <a:custGeom>
            <a:avLst/>
            <a:gdLst/>
            <a:ahLst/>
            <a:cxnLst/>
            <a:rect l="l" t="t" r="r" b="b"/>
            <a:pathLst>
              <a:path w="2843035" h="3636440">
                <a:moveTo>
                  <a:pt x="0" y="0"/>
                </a:moveTo>
                <a:lnTo>
                  <a:pt x="2843035" y="0"/>
                </a:lnTo>
                <a:lnTo>
                  <a:pt x="2843035" y="3636440"/>
                </a:lnTo>
                <a:lnTo>
                  <a:pt x="0" y="36364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3281798" y="-667883"/>
            <a:ext cx="2263087" cy="2894647"/>
          </a:xfrm>
          <a:custGeom>
            <a:avLst/>
            <a:gdLst/>
            <a:ahLst/>
            <a:cxnLst/>
            <a:rect l="l" t="t" r="r" b="b"/>
            <a:pathLst>
              <a:path w="2263087" h="2894647">
                <a:moveTo>
                  <a:pt x="0" y="0"/>
                </a:moveTo>
                <a:lnTo>
                  <a:pt x="2263087" y="0"/>
                </a:lnTo>
                <a:lnTo>
                  <a:pt x="2263087" y="2894647"/>
                </a:lnTo>
                <a:lnTo>
                  <a:pt x="0" y="289464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=""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 rot="788334">
            <a:off x="-1796707" y="87338"/>
            <a:ext cx="4343839" cy="4114800"/>
          </a:xfrm>
          <a:custGeom>
            <a:avLst/>
            <a:gdLst/>
            <a:ahLst/>
            <a:cxnLst/>
            <a:rect l="l" t="t" r="r" b="b"/>
            <a:pathLst>
              <a:path w="4343839" h="4114800">
                <a:moveTo>
                  <a:pt x="0" y="0"/>
                </a:moveTo>
                <a:lnTo>
                  <a:pt x="4343839" y="0"/>
                </a:lnTo>
                <a:lnTo>
                  <a:pt x="434383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=""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 rot="-1404291">
            <a:off x="-208499" y="6298743"/>
            <a:ext cx="3462000" cy="4920155"/>
          </a:xfrm>
          <a:custGeom>
            <a:avLst/>
            <a:gdLst/>
            <a:ahLst/>
            <a:cxnLst/>
            <a:rect l="l" t="t" r="r" b="b"/>
            <a:pathLst>
              <a:path w="3462000" h="4920155">
                <a:moveTo>
                  <a:pt x="0" y="0"/>
                </a:moveTo>
                <a:lnTo>
                  <a:pt x="3462000" y="0"/>
                </a:lnTo>
                <a:lnTo>
                  <a:pt x="3462000" y="4920155"/>
                </a:lnTo>
                <a:lnTo>
                  <a:pt x="0" y="4920155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=""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9167479"/>
              </p:ext>
            </p:extLst>
          </p:nvPr>
        </p:nvGraphicFramePr>
        <p:xfrm>
          <a:off x="6920779" y="-88491"/>
          <a:ext cx="11367221" cy="10287000"/>
        </p:xfrm>
        <a:graphic>
          <a:graphicData uri="http://schemas.openxmlformats.org/drawingml/2006/table">
            <a:tbl>
              <a:tblPr/>
              <a:tblGrid>
                <a:gridCol w="56931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740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03366">
                <a:tc>
                  <a:txBody>
                    <a:bodyPr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en-US" sz="2499" b="1" dirty="0">
                          <a:solidFill>
                            <a:srgbClr val="FEFEFE"/>
                          </a:solidFill>
                          <a:latin typeface="Clear Sans Regular Bold"/>
                          <a:ea typeface="Clear Sans Regular Bold"/>
                          <a:cs typeface="Clear Sans Regular Bold"/>
                          <a:sym typeface="Clear Sans Regular Bold"/>
                        </a:rPr>
                        <a:t>Что мы сделали?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314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en-US" sz="2499" dirty="0">
                          <a:solidFill>
                            <a:srgbClr val="FEFEFE"/>
                          </a:solidFill>
                          <a:latin typeface="Clear Sans Regular"/>
                          <a:ea typeface="Clear Sans Regular"/>
                          <a:cs typeface="Clear Sans Regular"/>
                          <a:sym typeface="Clear Sans Regular"/>
                        </a:rPr>
                        <a:t>Простенький </a:t>
                      </a:r>
                      <a:r>
                        <a:rPr lang="ru-RU" sz="2499" dirty="0" smtClean="0">
                          <a:solidFill>
                            <a:srgbClr val="FEFEFE"/>
                          </a:solidFill>
                          <a:latin typeface="Clear Sans Regular"/>
                          <a:ea typeface="Clear Sans Regular"/>
                          <a:cs typeface="Clear Sans Regular"/>
                          <a:sym typeface="Clear Sans Regular"/>
                        </a:rPr>
                        <a:t>ритм-платформер</a:t>
                      </a:r>
                      <a:r>
                        <a:rPr lang="ru-RU" sz="2499" baseline="0" dirty="0" smtClean="0">
                          <a:solidFill>
                            <a:srgbClr val="FEFEFE"/>
                          </a:solidFill>
                          <a:latin typeface="Clear Sans Regular"/>
                          <a:ea typeface="Clear Sans Regular"/>
                          <a:cs typeface="Clear Sans Regular"/>
                          <a:sym typeface="Clear Sans Regular"/>
                        </a:rPr>
                        <a:t> со </a:t>
                      </a:r>
                      <a:r>
                        <a:rPr lang="en-US" sz="2499" dirty="0" smtClean="0">
                          <a:solidFill>
                            <a:srgbClr val="FEFEFE"/>
                          </a:solidFill>
                          <a:latin typeface="Clear Sans Regular"/>
                          <a:ea typeface="Clear Sans Regular"/>
                          <a:cs typeface="Clear Sans Regular"/>
                          <a:sym typeface="Clear Sans Regular"/>
                        </a:rPr>
                        <a:t>свои</a:t>
                      </a:r>
                      <a:r>
                        <a:rPr lang="ru-RU" sz="2499" dirty="0" smtClean="0">
                          <a:solidFill>
                            <a:srgbClr val="FEFEFE"/>
                          </a:solidFill>
                          <a:latin typeface="Clear Sans Regular"/>
                          <a:ea typeface="Clear Sans Regular"/>
                          <a:cs typeface="Clear Sans Regular"/>
                          <a:sym typeface="Clear Sans Regular"/>
                        </a:rPr>
                        <a:t>ми</a:t>
                      </a:r>
                      <a:r>
                        <a:rPr lang="en-US" sz="2499" dirty="0" smtClean="0">
                          <a:solidFill>
                            <a:srgbClr val="FEFEFE"/>
                          </a:solidFill>
                          <a:latin typeface="Clear Sans Regular"/>
                          <a:ea typeface="Clear Sans Regular"/>
                          <a:cs typeface="Clear Sans Regular"/>
                          <a:sym typeface="Clear Sans Regular"/>
                        </a:rPr>
                        <a:t> особенност</a:t>
                      </a:r>
                      <a:r>
                        <a:rPr lang="ru-RU" sz="2499" dirty="0" smtClean="0">
                          <a:solidFill>
                            <a:srgbClr val="FEFEFE"/>
                          </a:solidFill>
                          <a:latin typeface="Clear Sans Regular"/>
                          <a:ea typeface="Clear Sans Regular"/>
                          <a:cs typeface="Clear Sans Regular"/>
                          <a:sym typeface="Clear Sans Regular"/>
                        </a:rPr>
                        <a:t>ями</a:t>
                      </a:r>
                      <a:r>
                        <a:rPr lang="en-US" sz="2499" dirty="0" smtClean="0">
                          <a:solidFill>
                            <a:srgbClr val="FEFEFE"/>
                          </a:solidFill>
                          <a:latin typeface="Clear Sans Regular"/>
                          <a:ea typeface="Clear Sans Regular"/>
                          <a:cs typeface="Clear Sans Regular"/>
                          <a:sym typeface="Clear Sans Regular"/>
                        </a:rPr>
                        <a:t> </a:t>
                      </a:r>
                      <a:r>
                        <a:rPr lang="en-US" sz="2499" dirty="0">
                          <a:solidFill>
                            <a:srgbClr val="FEFEFE"/>
                          </a:solidFill>
                          <a:latin typeface="Clear Sans Regular"/>
                          <a:ea typeface="Clear Sans Regular"/>
                          <a:cs typeface="Clear Sans Regular"/>
                          <a:sym typeface="Clear Sans Regular"/>
                        </a:rPr>
                        <a:t>в музыке и дизайне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31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6774">
                <a:tc>
                  <a:txBody>
                    <a:bodyPr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en-US" sz="2499" b="1" dirty="0">
                          <a:solidFill>
                            <a:srgbClr val="FEFEFE"/>
                          </a:solidFill>
                          <a:latin typeface="Clear Sans Regular Bold"/>
                          <a:ea typeface="Clear Sans Regular Bold"/>
                          <a:cs typeface="Clear Sans Regular Bold"/>
                          <a:sym typeface="Clear Sans Regular Bold"/>
                        </a:rPr>
                        <a:t>Почему именно “Upswing Jumpin’”?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314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en-US" sz="2499" dirty="0">
                          <a:solidFill>
                            <a:srgbClr val="FEFEFE"/>
                          </a:solidFill>
                          <a:latin typeface="Clear Sans Regular"/>
                          <a:ea typeface="Clear Sans Regular"/>
                          <a:cs typeface="Clear Sans Regular"/>
                          <a:sym typeface="Clear Sans Regular"/>
                        </a:rPr>
                        <a:t>У джазовой композиции “Upswing” есть фишка – акценты поставлены на слабые доли, так создаётся эффект “прыгающего” ритма.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31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4429">
                <a:tc>
                  <a:txBody>
                    <a:bodyPr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en-US" sz="2499" dirty="0">
                          <a:solidFill>
                            <a:srgbClr val="FEFEFE"/>
                          </a:solidFill>
                          <a:latin typeface="Clear Sans Regular"/>
                          <a:ea typeface="Clear Sans Regular"/>
                          <a:cs typeface="Clear Sans Regular"/>
                          <a:sym typeface="Clear Sans Regular"/>
                        </a:rPr>
                        <a:t>Кому это нужно?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314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en-US" sz="2499" dirty="0">
                          <a:solidFill>
                            <a:srgbClr val="FEFEFE"/>
                          </a:solidFill>
                          <a:latin typeface="Clear Sans Regular"/>
                          <a:ea typeface="Clear Sans Regular"/>
                          <a:cs typeface="Clear Sans Regular"/>
                          <a:sym typeface="Clear Sans Regular"/>
                        </a:rPr>
                        <a:t>Мне и моим друзьям. Мы любим изучать новое и смеяться с багов, возникающий при разработке. С этим проектом мы повеселились однозначно.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31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2431">
                <a:tc>
                  <a:txBody>
                    <a:bodyPr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en-US" sz="2499" dirty="0">
                          <a:solidFill>
                            <a:srgbClr val="FEFEFE"/>
                          </a:solidFill>
                          <a:latin typeface="Clear Sans Regular"/>
                          <a:ea typeface="Clear Sans Regular"/>
                          <a:cs typeface="Clear Sans Regular"/>
                          <a:sym typeface="Clear Sans Regular"/>
                        </a:rPr>
                        <a:t>Планируем ли мы дорабатывать проект?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314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en-US" sz="2499" dirty="0">
                          <a:solidFill>
                            <a:srgbClr val="FEFEFE"/>
                          </a:solidFill>
                          <a:latin typeface="Clear Sans Regular"/>
                          <a:ea typeface="Clear Sans Regular"/>
                          <a:cs typeface="Clear Sans Regular"/>
                          <a:sym typeface="Clear Sans Regular"/>
                        </a:rPr>
                        <a:t>Конечно. Хочется добавить ещё элементы из GD. Навести красоту в стилях и добавить звуков.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31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3" name="Group 3"/>
          <p:cNvGrpSpPr/>
          <p:nvPr/>
        </p:nvGrpSpPr>
        <p:grpSpPr>
          <a:xfrm>
            <a:off x="0" y="4314155"/>
            <a:ext cx="6545941" cy="1326134"/>
            <a:chOff x="0" y="0"/>
            <a:chExt cx="8727921" cy="1768179"/>
          </a:xfrm>
        </p:grpSpPr>
        <p:sp>
          <p:nvSpPr>
            <p:cNvPr id="4" name="TextBox 4"/>
            <p:cNvSpPr txBox="1"/>
            <p:nvPr/>
          </p:nvSpPr>
          <p:spPr>
            <a:xfrm>
              <a:off x="0" y="133350"/>
              <a:ext cx="8727921" cy="11573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07"/>
                </a:lnSpc>
              </a:pPr>
              <a:r>
                <a:rPr lang="en-US" sz="6399" dirty="0">
                  <a:solidFill>
                    <a:srgbClr val="C1314C"/>
                  </a:solidFill>
                  <a:latin typeface="Lalezar"/>
                  <a:ea typeface="Lalezar"/>
                  <a:cs typeface="Lalezar"/>
                  <a:sym typeface="Lalezar"/>
                </a:rPr>
                <a:t>Введение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1252559"/>
              <a:ext cx="8727921" cy="5156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9"/>
                </a:lnSpc>
              </a:pPr>
              <a:r>
                <a:rPr lang="en-US" sz="2400" dirty="0">
                  <a:solidFill>
                    <a:srgbClr val="C1314C"/>
                  </a:solidFill>
                  <a:latin typeface="Open Sans"/>
                  <a:ea typeface="Open Sans"/>
                  <a:cs typeface="Open Sans"/>
                  <a:sym typeface="Open Sans"/>
                </a:rPr>
                <a:t>Немного общей информации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 descr="Simple Lined Octahedron Net  "/>
          <p:cNvSpPr/>
          <p:nvPr/>
        </p:nvSpPr>
        <p:spPr>
          <a:xfrm>
            <a:off x="15205688" y="-1725770"/>
            <a:ext cx="5533350" cy="4114800"/>
          </a:xfrm>
          <a:custGeom>
            <a:avLst/>
            <a:gdLst/>
            <a:ahLst/>
            <a:cxnLst/>
            <a:rect l="l" t="t" r="r" b="b"/>
            <a:pathLst>
              <a:path w="5533350" h="4114800">
                <a:moveTo>
                  <a:pt x="0" y="0"/>
                </a:moveTo>
                <a:lnTo>
                  <a:pt x="5533349" y="0"/>
                </a:lnTo>
                <a:lnTo>
                  <a:pt x="553334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 descr="Cute Organic Cone "/>
          <p:cNvSpPr/>
          <p:nvPr/>
        </p:nvSpPr>
        <p:spPr>
          <a:xfrm rot="5954939">
            <a:off x="402557" y="7468401"/>
            <a:ext cx="2843035" cy="3636440"/>
          </a:xfrm>
          <a:custGeom>
            <a:avLst/>
            <a:gdLst/>
            <a:ahLst/>
            <a:cxnLst/>
            <a:rect l="l" t="t" r="r" b="b"/>
            <a:pathLst>
              <a:path w="2843035" h="3636440">
                <a:moveTo>
                  <a:pt x="0" y="0"/>
                </a:moveTo>
                <a:lnTo>
                  <a:pt x="2843035" y="0"/>
                </a:lnTo>
                <a:lnTo>
                  <a:pt x="2843035" y="3636440"/>
                </a:lnTo>
                <a:lnTo>
                  <a:pt x="0" y="363644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 descr="Simple Lined Cuboctahedron"/>
          <p:cNvSpPr/>
          <p:nvPr/>
        </p:nvSpPr>
        <p:spPr>
          <a:xfrm>
            <a:off x="2064107" y="-2563016"/>
            <a:ext cx="4754496" cy="4114800"/>
          </a:xfrm>
          <a:custGeom>
            <a:avLst/>
            <a:gdLst/>
            <a:ahLst/>
            <a:cxnLst/>
            <a:rect l="l" t="t" r="r" b="b"/>
            <a:pathLst>
              <a:path w="4754496" h="4114800">
                <a:moveTo>
                  <a:pt x="0" y="0"/>
                </a:moveTo>
                <a:lnTo>
                  <a:pt x="4754496" y="0"/>
                </a:lnTo>
                <a:lnTo>
                  <a:pt x="475449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 descr="Cute Organic Cone "/>
          <p:cNvSpPr/>
          <p:nvPr/>
        </p:nvSpPr>
        <p:spPr>
          <a:xfrm>
            <a:off x="-198981" y="104460"/>
            <a:ext cx="2263087" cy="2894647"/>
          </a:xfrm>
          <a:custGeom>
            <a:avLst/>
            <a:gdLst/>
            <a:ahLst/>
            <a:cxnLst/>
            <a:rect l="l" t="t" r="r" b="b"/>
            <a:pathLst>
              <a:path w="2263087" h="2894647">
                <a:moveTo>
                  <a:pt x="0" y="0"/>
                </a:moveTo>
                <a:lnTo>
                  <a:pt x="2263088" y="0"/>
                </a:lnTo>
                <a:lnTo>
                  <a:pt x="2263088" y="2894647"/>
                </a:lnTo>
                <a:lnTo>
                  <a:pt x="0" y="289464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=""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7353250" y="1171952"/>
            <a:ext cx="6545941" cy="904094"/>
          </a:xfrm>
          <a:prstGeom prst="rect">
            <a:avLst/>
          </a:prstGeom>
        </p:spPr>
        <p:txBody>
          <a:bodyPr lIns="0" tIns="0" rIns="0" bIns="0" rtlCol="0" anchor="ctr">
            <a:spAutoFit/>
          </a:bodyPr>
          <a:lstStyle/>
          <a:p>
            <a:pPr algn="ctr">
              <a:lnSpc>
                <a:spcPts val="6641"/>
              </a:lnSpc>
            </a:pPr>
            <a:r>
              <a:rPr lang="en-US" sz="7000" dirty="0">
                <a:solidFill>
                  <a:srgbClr val="C1314C"/>
                </a:solidFill>
                <a:latin typeface="Lalezar"/>
                <a:ea typeface="Lalezar"/>
                <a:cs typeface="Lalezar"/>
                <a:sym typeface="Lalezar"/>
              </a:rPr>
              <a:t>Технологии</a:t>
            </a:r>
          </a:p>
        </p:txBody>
      </p:sp>
      <p:sp>
        <p:nvSpPr>
          <p:cNvPr id="14" name="TextBox 7"/>
          <p:cNvSpPr txBox="1"/>
          <p:nvPr/>
        </p:nvSpPr>
        <p:spPr>
          <a:xfrm>
            <a:off x="4441355" y="3240850"/>
            <a:ext cx="9960445" cy="615553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200000"/>
              </a:lnSpc>
              <a:spcBef>
                <a:spcPct val="0"/>
              </a:spcBef>
            </a:pPr>
            <a:r>
              <a:rPr lang="en-US" sz="4000" dirty="0">
                <a:solidFill>
                  <a:srgbClr val="C1314C"/>
                </a:solidFill>
                <a:latin typeface="Lalezar"/>
                <a:ea typeface="Lalezar"/>
                <a:cs typeface="Lalezar"/>
                <a:sym typeface="Lalezar"/>
              </a:rPr>
              <a:t>arcade - ядро  </a:t>
            </a:r>
            <a:r>
              <a:rPr lang="en-US" sz="4000" dirty="0" smtClean="0">
                <a:solidFill>
                  <a:srgbClr val="C1314C"/>
                </a:solidFill>
                <a:latin typeface="Lalezar"/>
                <a:ea typeface="Lalezar"/>
                <a:cs typeface="Lalezar"/>
                <a:sym typeface="Lalezar"/>
              </a:rPr>
              <a:t>приложения/движок</a:t>
            </a:r>
          </a:p>
          <a:p>
            <a:pPr>
              <a:lnSpc>
                <a:spcPct val="200000"/>
              </a:lnSpc>
              <a:spcBef>
                <a:spcPct val="0"/>
              </a:spcBef>
            </a:pPr>
            <a:r>
              <a:rPr lang="en-US" sz="4000" dirty="0">
                <a:solidFill>
                  <a:srgbClr val="C1314C"/>
                </a:solidFill>
                <a:latin typeface="Lalezar"/>
                <a:ea typeface="Lalezar"/>
                <a:cs typeface="Lalezar"/>
                <a:sym typeface="Lalezar"/>
              </a:rPr>
              <a:t>configparser- загрузка настроек проекта</a:t>
            </a:r>
          </a:p>
          <a:p>
            <a:pPr>
              <a:lnSpc>
                <a:spcPct val="200000"/>
              </a:lnSpc>
              <a:spcBef>
                <a:spcPct val="0"/>
              </a:spcBef>
            </a:pPr>
            <a:r>
              <a:rPr lang="en-US" sz="4000" dirty="0">
                <a:solidFill>
                  <a:srgbClr val="C1314C"/>
                </a:solidFill>
                <a:latin typeface="Lalezar"/>
                <a:ea typeface="Lalezar"/>
                <a:cs typeface="Lalezar"/>
                <a:sym typeface="Lalezar"/>
              </a:rPr>
              <a:t>pydantic- работа с форматированием строк</a:t>
            </a:r>
          </a:p>
          <a:p>
            <a:pPr>
              <a:lnSpc>
                <a:spcPct val="200000"/>
              </a:lnSpc>
              <a:spcBef>
                <a:spcPct val="0"/>
              </a:spcBef>
            </a:pPr>
            <a:r>
              <a:rPr lang="en-US" sz="4000" dirty="0">
                <a:solidFill>
                  <a:srgbClr val="C1314C"/>
                </a:solidFill>
                <a:latin typeface="Lalezar"/>
                <a:ea typeface="Lalezar"/>
                <a:cs typeface="Lalezar"/>
                <a:sym typeface="Lalezar"/>
              </a:rPr>
              <a:t>sqlite3 - работа с базой данных</a:t>
            </a:r>
          </a:p>
          <a:p>
            <a:pPr>
              <a:lnSpc>
                <a:spcPct val="200000"/>
              </a:lnSpc>
              <a:spcBef>
                <a:spcPct val="0"/>
              </a:spcBef>
            </a:pPr>
            <a:r>
              <a:rPr lang="en-US" sz="4000" dirty="0">
                <a:solidFill>
                  <a:srgbClr val="C1314C"/>
                </a:solidFill>
                <a:latin typeface="Lalezar"/>
                <a:ea typeface="Lalezar"/>
                <a:cs typeface="Lalezar"/>
                <a:sym typeface="Lalezar"/>
              </a:rPr>
              <a:t>json-работа с </a:t>
            </a:r>
            <a:r>
              <a:rPr lang="en-US" sz="4000" dirty="0" smtClean="0">
                <a:solidFill>
                  <a:srgbClr val="C1314C"/>
                </a:solidFill>
                <a:latin typeface="Lalezar"/>
                <a:ea typeface="Lalezar"/>
                <a:cs typeface="Lalezar"/>
                <a:sym typeface="Lalezar"/>
              </a:rPr>
              <a:t>JSON-файлами</a:t>
            </a:r>
            <a:endParaRPr lang="en-US" sz="4000" dirty="0">
              <a:solidFill>
                <a:srgbClr val="C1314C"/>
              </a:solidFill>
              <a:latin typeface="Lalezar"/>
              <a:ea typeface="Lalezar"/>
              <a:cs typeface="Lalezar"/>
              <a:sym typeface="Lalezar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297180"/>
            <a:ext cx="18288000" cy="9692640"/>
          </a:xfrm>
          <a:custGeom>
            <a:avLst/>
            <a:gdLst/>
            <a:ahLst/>
            <a:cxnLst/>
            <a:rect l="l" t="t" r="r" b="b"/>
            <a:pathLst>
              <a:path w="18288000" h="9692640">
                <a:moveTo>
                  <a:pt x="0" y="0"/>
                </a:moveTo>
                <a:lnTo>
                  <a:pt x="18288000" y="0"/>
                </a:lnTo>
                <a:lnTo>
                  <a:pt x="18288000" y="9692640"/>
                </a:lnTo>
                <a:lnTo>
                  <a:pt x="0" y="96926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377190"/>
            <a:ext cx="18288000" cy="9532620"/>
          </a:xfrm>
          <a:custGeom>
            <a:avLst/>
            <a:gdLst/>
            <a:ahLst/>
            <a:cxnLst/>
            <a:rect l="l" t="t" r="r" b="b"/>
            <a:pathLst>
              <a:path w="18288000" h="9532620">
                <a:moveTo>
                  <a:pt x="0" y="0"/>
                </a:moveTo>
                <a:lnTo>
                  <a:pt x="18288000" y="0"/>
                </a:lnTo>
                <a:lnTo>
                  <a:pt x="18288000" y="9532620"/>
                </a:lnTo>
                <a:lnTo>
                  <a:pt x="0" y="953262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412096" y="7200900"/>
            <a:ext cx="4099837" cy="4114800"/>
          </a:xfrm>
          <a:custGeom>
            <a:avLst/>
            <a:gdLst/>
            <a:ahLst/>
            <a:cxnLst/>
            <a:rect l="l" t="t" r="r" b="b"/>
            <a:pathLst>
              <a:path w="4099837" h="4114800">
                <a:moveTo>
                  <a:pt x="0" y="0"/>
                </a:moveTo>
                <a:lnTo>
                  <a:pt x="4099837" y="0"/>
                </a:lnTo>
                <a:lnTo>
                  <a:pt x="409983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1861447">
            <a:off x="15159209" y="-183498"/>
            <a:ext cx="5189182" cy="5415655"/>
          </a:xfrm>
          <a:custGeom>
            <a:avLst/>
            <a:gdLst/>
            <a:ahLst/>
            <a:cxnLst/>
            <a:rect l="l" t="t" r="r" b="b"/>
            <a:pathLst>
              <a:path w="5189182" h="5415655">
                <a:moveTo>
                  <a:pt x="0" y="0"/>
                </a:moveTo>
                <a:lnTo>
                  <a:pt x="5189182" y="0"/>
                </a:lnTo>
                <a:lnTo>
                  <a:pt x="5189182" y="5415655"/>
                </a:lnTo>
                <a:lnTo>
                  <a:pt x="0" y="541565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4737905" y="7420059"/>
            <a:ext cx="5533350" cy="4114800"/>
          </a:xfrm>
          <a:custGeom>
            <a:avLst/>
            <a:gdLst/>
            <a:ahLst/>
            <a:cxnLst/>
            <a:rect l="l" t="t" r="r" b="b"/>
            <a:pathLst>
              <a:path w="5533350" h="4114800">
                <a:moveTo>
                  <a:pt x="0" y="0"/>
                </a:moveTo>
                <a:lnTo>
                  <a:pt x="5533349" y="0"/>
                </a:lnTo>
                <a:lnTo>
                  <a:pt x="553334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5954939">
            <a:off x="4067335" y="8400928"/>
            <a:ext cx="2843035" cy="3636440"/>
          </a:xfrm>
          <a:custGeom>
            <a:avLst/>
            <a:gdLst/>
            <a:ahLst/>
            <a:cxnLst/>
            <a:rect l="l" t="t" r="r" b="b"/>
            <a:pathLst>
              <a:path w="2843035" h="3636440">
                <a:moveTo>
                  <a:pt x="0" y="0"/>
                </a:moveTo>
                <a:lnTo>
                  <a:pt x="2843035" y="0"/>
                </a:lnTo>
                <a:lnTo>
                  <a:pt x="2843035" y="3636440"/>
                </a:lnTo>
                <a:lnTo>
                  <a:pt x="0" y="363644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=""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3253055" y="-1919815"/>
            <a:ext cx="4754496" cy="4114800"/>
          </a:xfrm>
          <a:custGeom>
            <a:avLst/>
            <a:gdLst/>
            <a:ahLst/>
            <a:cxnLst/>
            <a:rect l="l" t="t" r="r" b="b"/>
            <a:pathLst>
              <a:path w="4754496" h="4114800">
                <a:moveTo>
                  <a:pt x="0" y="0"/>
                </a:moveTo>
                <a:lnTo>
                  <a:pt x="4754496" y="0"/>
                </a:lnTo>
                <a:lnTo>
                  <a:pt x="475449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=""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3003210" y="-1051363"/>
            <a:ext cx="2263087" cy="2894647"/>
          </a:xfrm>
          <a:custGeom>
            <a:avLst/>
            <a:gdLst/>
            <a:ahLst/>
            <a:cxnLst/>
            <a:rect l="l" t="t" r="r" b="b"/>
            <a:pathLst>
              <a:path w="2263087" h="2894647">
                <a:moveTo>
                  <a:pt x="0" y="0"/>
                </a:moveTo>
                <a:lnTo>
                  <a:pt x="2263087" y="0"/>
                </a:lnTo>
                <a:lnTo>
                  <a:pt x="2263087" y="2894646"/>
                </a:lnTo>
                <a:lnTo>
                  <a:pt x="0" y="2894646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=""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 rot="788334">
            <a:off x="-2411371" y="979389"/>
            <a:ext cx="4343839" cy="4114800"/>
          </a:xfrm>
          <a:custGeom>
            <a:avLst/>
            <a:gdLst/>
            <a:ahLst/>
            <a:cxnLst/>
            <a:rect l="l" t="t" r="r" b="b"/>
            <a:pathLst>
              <a:path w="4343839" h="4114800">
                <a:moveTo>
                  <a:pt x="0" y="0"/>
                </a:moveTo>
                <a:lnTo>
                  <a:pt x="4343838" y="0"/>
                </a:lnTo>
                <a:lnTo>
                  <a:pt x="43438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=""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rot="-1404291">
            <a:off x="8180028" y="7302992"/>
            <a:ext cx="3462000" cy="4920155"/>
          </a:xfrm>
          <a:custGeom>
            <a:avLst/>
            <a:gdLst/>
            <a:ahLst/>
            <a:cxnLst/>
            <a:rect l="l" t="t" r="r" b="b"/>
            <a:pathLst>
              <a:path w="3462000" h="4920155">
                <a:moveTo>
                  <a:pt x="0" y="0"/>
                </a:moveTo>
                <a:lnTo>
                  <a:pt x="3462000" y="0"/>
                </a:lnTo>
                <a:lnTo>
                  <a:pt x="3462000" y="4920155"/>
                </a:lnTo>
                <a:lnTo>
                  <a:pt x="0" y="4920155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=""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3465798" y="3591498"/>
            <a:ext cx="11538920" cy="17812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287"/>
              </a:lnSpc>
            </a:pPr>
            <a:r>
              <a:rPr lang="en-US" sz="13698" dirty="0">
                <a:solidFill>
                  <a:srgbClr val="C1314C"/>
                </a:solidFill>
                <a:latin typeface="Lalezar"/>
                <a:ea typeface="Lalezar"/>
                <a:cs typeface="Lalezar"/>
                <a:sym typeface="Lalezar"/>
              </a:rPr>
              <a:t>Q&amp;A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465798" y="5148272"/>
            <a:ext cx="11538920" cy="10337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760"/>
              </a:lnSpc>
            </a:pPr>
            <a:r>
              <a:rPr lang="en-US" sz="8000" dirty="0">
                <a:solidFill>
                  <a:srgbClr val="C1314C"/>
                </a:solidFill>
                <a:latin typeface="Lalezar"/>
                <a:ea typeface="Lalezar"/>
                <a:cs typeface="Lalezar"/>
                <a:sym typeface="Lalezar"/>
              </a:rPr>
              <a:t>Zone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136</Words>
  <Application>Microsoft Office PowerPoint</Application>
  <PresentationFormat>Произвольный</PresentationFormat>
  <Paragraphs>24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5" baseType="lpstr">
      <vt:lpstr>Clear Sans Regular Bold</vt:lpstr>
      <vt:lpstr>Calibri</vt:lpstr>
      <vt:lpstr>Open Sans</vt:lpstr>
      <vt:lpstr>Clear Sans Regular</vt:lpstr>
      <vt:lpstr>Lalezar</vt:lpstr>
      <vt:lpstr>Dreaming Outloud Sans</vt:lpstr>
      <vt:lpstr>Arial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Upswing Jumpin’</dc:title>
  <cp:lastModifiedBy>learner</cp:lastModifiedBy>
  <cp:revision>3</cp:revision>
  <dcterms:created xsi:type="dcterms:W3CDTF">2006-08-16T00:00:00Z</dcterms:created>
  <dcterms:modified xsi:type="dcterms:W3CDTF">2026-01-29T13:36:52Z</dcterms:modified>
  <dc:identifier>DAG-gOXvqtw</dc:identifier>
</cp:coreProperties>
</file>